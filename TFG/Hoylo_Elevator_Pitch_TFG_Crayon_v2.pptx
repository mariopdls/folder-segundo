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A231"/>
    <a:srgbClr val="FAD13B"/>
    <a:srgbClr val="2B2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02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Hola a todos, soy Mario Porras y vengo a presentaros Hoylo: el proyecto que va a cambiar cómo entendemos la constancia.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Hoy en día, las apps de hábitos suelen partir de un enfoque estático. Te exigen lo mismo si estás en época de exámenes, si atraviesas una ruptura o si acabas de empezar el gimnasio. El problema es que nuestras prioridades cambian según el momento vital.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propio análisis del proyecto identifica tres carencias: personalización superficial, un componente social débil o inexistente y una fragmentación de herramientas. Esa rigidez puede generar fatiga y abandono, haciendo que el usuario sienta que falla él cuando la herramienta no se adapta a su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 eso nace Hoylo. No es una app genérica de hábitos, sino una red social de retos personales. El usuario define cómo está viviendo su etapa actual y, a partir de ese contexto, recibe retos adaptados a su realidad. Todo dentro de una comunidad.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flujo comienza definiendo el momento vital o arco en el que se encuentra el usuario. Puede ser una etapa de estrés laboral, unas oposiciones, un cambio personal o cualquier situación que cambie sus prioridades.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Después entra la inteligencia artificial. A partir del contexto declarado, genera retos y descripciones adaptadas. La idea no es ofrecer contenido estático, sino reducir la fricción de tener que empezar desde cero cada vez que queremos plantearnos un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 la tercera pieza es la comunidad. Hoylo incorpora amigos, retos compartidos e invitaciones para que el usuario no tenga que trabajar siempre en solitario. El acompañamiento y la motivación externa forman parte del producto desde el principio.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análisis compara Hoylo con Habitica, Fabulous e ifeel. Habitica aporta gamificación, Fabulous coaching de hábitos e ifeel acompañamiento profesional B2B. Hoylo plantea combinar en un mismo producto los retos adaptados al momento vital y una dimensión social integrada.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nivel técnico, el proyecto plantea una interfaz web sencilla, adaptable a móvil y escritorio, con soporte multilenguaje y modo oscuro. La experiencia está pensada para que el registro sea rápido y los retos sean claros y fáciles de completar.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el backend se utiliza una arquitectura basada en funciones serverless, evitando mantener infraestructura propia y facilitando el escalado. Supabase cubre la persistencia de datos y la autenticación, mientras que la API de IA genera el contenido diferencial de Hoylo.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gestión de imágenes y recursos multimedia se delega en Cloudinary. De esta forma, las imágenes de perfiles y retos no tienen que almacenarse directamente en el servidor de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proyecto se plantea en seis meses y cinco etapas: análisis, diseño, desarrollo, pruebas y despliegue. El análisis ocupa las semanas 1 a 3; el diseño, de la 4 a la 6; el desarrollo, de la 7 a la 18; las pruebas, de la 19 a la 22; y el despliegue, las semanas 23 y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Hoylo se encuadra en el sector de Salud y Bienestar. El documento analiza vías de apoyo como el programa IA x PYME para pequeñas empresas de Sevilla y el programa RETECH de Agencia IDEA. También se estudia el Kit Digital, aunque el propio documento señala que las convocatorias generales estaban cerradas desde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resumen: Hoylo parte de una idea sencilla. Tus prioridades cambian con tu vida, por lo que tus retos también deberían poder cambiar. La propuesta combina contexto, comunidad y tecnología para trabajar el bienestar de forma cotidiana y acompañada.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adaptes tu vida a tus hábitos. Deja que tus hábitos se adapten a tu vida. Muchas gracias. ¿Alguna pregunta?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01</a:t>
            </a:r>
          </a:p>
        </p:txBody>
      </p:sp>
      <p:pic>
        <p:nvPicPr>
          <p:cNvPr id="4" name="Picture 3" descr="Hoy lo hago con s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566928"/>
            <a:ext cx="8321040" cy="5547360"/>
          </a:xfrm>
          <a:prstGeom prst="rect">
            <a:avLst/>
          </a:prstGeom>
        </p:spPr>
      </p:pic>
      <p:pic>
        <p:nvPicPr>
          <p:cNvPr id="5" name="Picture 4" descr="hoylo_crayon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4407408"/>
            <a:ext cx="960120" cy="960120"/>
          </a:xfrm>
          <a:prstGeom prst="rect">
            <a:avLst/>
          </a:prstGeom>
        </p:spPr>
      </p:pic>
      <p:pic>
        <p:nvPicPr>
          <p:cNvPr id="6" name="Picture 5" descr="hoylo_crayon_under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5230368"/>
            <a:ext cx="5989320" cy="246888"/>
          </a:xfrm>
          <a:prstGeom prst="rect">
            <a:avLst/>
          </a:prstGeom>
        </p:spPr>
      </p:pic>
      <p:pic>
        <p:nvPicPr>
          <p:cNvPr id="8" name="Picture 4" descr="hoylo_crayon_circle.png">
            <a:extLst>
              <a:ext uri="{FF2B5EF4-FFF2-40B4-BE49-F238E27FC236}">
                <a16:creationId xmlns:a16="http://schemas.microsoft.com/office/drawing/2014/main" id="{E2C24AEE-5BA5-0E2E-D274-BA5092CBF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743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" y="903186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EL PROBLEMA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6926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Hábitos de talla única.</a:t>
            </a:r>
          </a:p>
        </p:txBody>
      </p:sp>
      <p:pic>
        <p:nvPicPr>
          <p:cNvPr id="7" name="Picture 6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441448"/>
            <a:ext cx="480060" cy="48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2728" y="2411223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2B2B26"/>
                </a:solidFill>
                <a:latin typeface="Aptos"/>
              </a:rPr>
              <a:t>Metas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estáticas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pic>
        <p:nvPicPr>
          <p:cNvPr id="9" name="Picture 8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09544"/>
            <a:ext cx="480060" cy="4800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2728" y="3181667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 err="1">
                <a:solidFill>
                  <a:srgbClr val="2B2B26"/>
                </a:solidFill>
                <a:latin typeface="Aptos"/>
              </a:rPr>
              <a:t>Ignoran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tu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momento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vital.</a:t>
            </a:r>
          </a:p>
        </p:txBody>
      </p:sp>
      <p:pic>
        <p:nvPicPr>
          <p:cNvPr id="11" name="Picture 10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77640"/>
            <a:ext cx="480060" cy="4800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52728" y="3947668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2B2B26"/>
                </a:solidFill>
                <a:latin typeface="Aptos"/>
              </a:rPr>
              <a:t>La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misma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lógica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para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perfiles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distintos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0235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dirty="0">
                <a:solidFill>
                  <a:srgbClr val="706C5E"/>
                </a:solidFill>
                <a:latin typeface="Aptos"/>
              </a:rPr>
              <a:t>El </a:t>
            </a:r>
            <a:r>
              <a:rPr sz="1500" b="0" dirty="0" err="1">
                <a:solidFill>
                  <a:srgbClr val="706C5E"/>
                </a:solidFill>
                <a:latin typeface="Aptos"/>
              </a:rPr>
              <a:t>momento</a:t>
            </a:r>
            <a:r>
              <a:rPr sz="1500" b="0" dirty="0">
                <a:solidFill>
                  <a:srgbClr val="706C5E"/>
                </a:solidFill>
                <a:latin typeface="Aptos"/>
              </a:rPr>
              <a:t> vital cambia. La </a:t>
            </a:r>
            <a:r>
              <a:rPr sz="1500" b="0" dirty="0" err="1">
                <a:solidFill>
                  <a:srgbClr val="706C5E"/>
                </a:solidFill>
                <a:latin typeface="Aptos"/>
              </a:rPr>
              <a:t>herramienta</a:t>
            </a:r>
            <a:r>
              <a:rPr sz="1500" b="0" dirty="0">
                <a:solidFill>
                  <a:srgbClr val="706C5E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06C5E"/>
                </a:solidFill>
                <a:latin typeface="Aptos"/>
              </a:rPr>
              <a:t>también</a:t>
            </a:r>
            <a:r>
              <a:rPr sz="1500" b="0" dirty="0">
                <a:solidFill>
                  <a:srgbClr val="706C5E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06C5E"/>
                </a:solidFill>
                <a:latin typeface="Aptos"/>
              </a:rPr>
              <a:t>debería</a:t>
            </a:r>
            <a:r>
              <a:rPr sz="1500" b="0" dirty="0">
                <a:solidFill>
                  <a:srgbClr val="706C5E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06C5E"/>
                </a:solidFill>
                <a:latin typeface="Aptos"/>
              </a:rPr>
              <a:t>hacerlo</a:t>
            </a:r>
            <a:r>
              <a:rPr sz="1500" b="0" dirty="0">
                <a:solidFill>
                  <a:srgbClr val="706C5E"/>
                </a:solidFill>
                <a:latin typeface="Aptos"/>
              </a:rPr>
              <a:t>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DF887B0-88F3-3993-425D-3A0B9979A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810" y="1657479"/>
            <a:ext cx="4532156" cy="31224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8103" y="951198"/>
            <a:ext cx="5120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B98C00"/>
                </a:solidFill>
                <a:latin typeface="Aptos Display"/>
              </a:rPr>
              <a:t>EL PROBLEMA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493146"/>
            <a:ext cx="96926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 dirty="0" err="1">
                <a:solidFill>
                  <a:srgbClr val="2B2B26"/>
                </a:solidFill>
                <a:latin typeface="Aptos Display"/>
              </a:rPr>
              <a:t>Fatiga</a:t>
            </a:r>
            <a:r>
              <a:rPr sz="3100" b="1" dirty="0">
                <a:solidFill>
                  <a:srgbClr val="2B2B26"/>
                </a:solidFill>
                <a:latin typeface="Aptos Display"/>
              </a:rPr>
              <a:t> y </a:t>
            </a:r>
            <a:r>
              <a:rPr sz="3100" b="1" dirty="0" err="1">
                <a:solidFill>
                  <a:srgbClr val="2B2B26"/>
                </a:solidFill>
                <a:latin typeface="Aptos Display"/>
              </a:rPr>
              <a:t>abandono</a:t>
            </a:r>
            <a:r>
              <a:rPr sz="3100" b="1" dirty="0">
                <a:solidFill>
                  <a:srgbClr val="2B2B26"/>
                </a:solidFill>
                <a:latin typeface="Aptos Display"/>
              </a:rPr>
              <a:t>.</a:t>
            </a:r>
          </a:p>
        </p:txBody>
      </p:sp>
      <p:pic>
        <p:nvPicPr>
          <p:cNvPr id="7" name="Picture 6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441448"/>
            <a:ext cx="464964" cy="4649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2728" y="2414016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 err="1">
                <a:solidFill>
                  <a:srgbClr val="2B2B26"/>
                </a:solidFill>
                <a:latin typeface="Aptos"/>
              </a:rPr>
              <a:t>Herramientas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individuales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pic>
        <p:nvPicPr>
          <p:cNvPr id="9" name="Picture 8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09544"/>
            <a:ext cx="464964" cy="4649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1872" y="3173830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2B2B26"/>
                </a:solidFill>
                <a:latin typeface="Aptos"/>
              </a:rPr>
              <a:t>Poco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acompañamiento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pic>
        <p:nvPicPr>
          <p:cNvPr id="11" name="Picture 10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77640"/>
            <a:ext cx="464964" cy="4649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52728" y="396021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2B2B26"/>
                </a:solidFill>
                <a:latin typeface="Aptos"/>
              </a:rPr>
              <a:t>Más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fatiga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,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menos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constancia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6355" y="2061713"/>
            <a:ext cx="3105509" cy="2428853"/>
          </a:xfrm>
          <a:prstGeom prst="roundRect">
            <a:avLst/>
          </a:prstGeom>
          <a:solidFill>
            <a:srgbClr val="F9F7EF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2152" y="2644493"/>
            <a:ext cx="2357886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706C5E"/>
                </a:solidFill>
                <a:latin typeface="Aptos"/>
              </a:rPr>
              <a:t>PERSONA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151" y="3001795"/>
            <a:ext cx="977661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 dirty="0">
                <a:solidFill>
                  <a:srgbClr val="B98C00"/>
                </a:solidFill>
                <a:latin typeface="Aptos"/>
              </a:rPr>
              <a:t>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2152" y="3613757"/>
            <a:ext cx="2357886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706C5E"/>
                </a:solidFill>
                <a:latin typeface="Aptos"/>
              </a:rPr>
              <a:t>PLANTILLA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223" y="903776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LA SOLUCIÓN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6926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Conoce Hoylo.</a:t>
            </a:r>
          </a:p>
        </p:txBody>
      </p:sp>
      <p:pic>
        <p:nvPicPr>
          <p:cNvPr id="7" name="Picture 6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" y="2441447"/>
            <a:ext cx="456337" cy="4563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6152" y="240612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2B2B26"/>
                </a:solidFill>
                <a:latin typeface="Aptos"/>
              </a:rPr>
              <a:t>Red social de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retos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personales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pic>
        <p:nvPicPr>
          <p:cNvPr id="9" name="Picture 8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" y="3209543"/>
            <a:ext cx="456337" cy="4563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2728" y="3172535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2B2B26"/>
                </a:solidFill>
                <a:latin typeface="Aptos"/>
              </a:rPr>
              <a:t>Adaptada a tu «arco vital».</a:t>
            </a:r>
          </a:p>
        </p:txBody>
      </p:sp>
      <p:pic>
        <p:nvPicPr>
          <p:cNvPr id="11" name="Picture 10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" y="3977639"/>
            <a:ext cx="456337" cy="456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52728" y="3938946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 err="1">
                <a:solidFill>
                  <a:srgbClr val="2B2B26"/>
                </a:solidFill>
                <a:latin typeface="Aptos"/>
              </a:rPr>
              <a:t>Bienestar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progresivo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 y </a:t>
            </a:r>
            <a:r>
              <a:rPr sz="2000" b="1" dirty="0" err="1">
                <a:solidFill>
                  <a:srgbClr val="2B2B26"/>
                </a:solidFill>
                <a:latin typeface="Aptos"/>
              </a:rPr>
              <a:t>acompañado</a:t>
            </a:r>
            <a:r>
              <a:rPr sz="20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6D8CAA0-4AA3-A2DC-20D9-9FDE01D54F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2217" y="1652971"/>
            <a:ext cx="4340237" cy="29901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2259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CÓMO FUNCIONA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509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1. Define tu contexto.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706624"/>
            <a:ext cx="2542032" cy="128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6053" y="3147647"/>
            <a:ext cx="187434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800" b="1" dirty="0">
                <a:solidFill>
                  <a:srgbClr val="2B2B26"/>
                </a:solidFill>
                <a:latin typeface="Aptos"/>
              </a:rPr>
              <a:t>Dime como estás.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706624"/>
            <a:ext cx="2542032" cy="1280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26134" y="3129140"/>
            <a:ext cx="218006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800" b="1" dirty="0">
                <a:solidFill>
                  <a:srgbClr val="2B2B26"/>
                </a:solidFill>
                <a:latin typeface="Aptos"/>
              </a:rPr>
              <a:t>Dime tu arco actual.</a:t>
            </a:r>
            <a:endParaRPr sz="1800" b="1" dirty="0">
              <a:solidFill>
                <a:srgbClr val="2B2B2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91856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706624"/>
            <a:ext cx="2542032" cy="1280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2752" y="3005697"/>
            <a:ext cx="250545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dirty="0">
                <a:solidFill>
                  <a:srgbClr val="2B2B26"/>
                </a:solidFill>
                <a:latin typeface="Aptos"/>
              </a:rPr>
              <a:t>El </a:t>
            </a:r>
            <a:r>
              <a:rPr sz="1800" b="1" dirty="0" err="1">
                <a:solidFill>
                  <a:srgbClr val="2B2B26"/>
                </a:solidFill>
                <a:latin typeface="Aptos"/>
              </a:rPr>
              <a:t>contexto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B2B26"/>
                </a:solidFill>
                <a:latin typeface="Aptos"/>
              </a:rPr>
              <a:t>gu</a:t>
            </a:r>
            <a:r>
              <a:rPr lang="es-ES" sz="1800" b="1" dirty="0">
                <a:solidFill>
                  <a:srgbClr val="2B2B26"/>
                </a:solidFill>
                <a:latin typeface="Aptos"/>
              </a:rPr>
              <a:t>i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a</a:t>
            </a:r>
            <a:r>
              <a:rPr lang="es-ES" b="1" dirty="0" err="1">
                <a:solidFill>
                  <a:srgbClr val="2B2B26"/>
                </a:solidFill>
                <a:latin typeface="Aptos"/>
              </a:rPr>
              <a:t>rá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 </a:t>
            </a:r>
            <a:r>
              <a:rPr lang="es-ES" sz="1800" b="1" dirty="0">
                <a:solidFill>
                  <a:srgbClr val="2B2B26"/>
                </a:solidFill>
                <a:latin typeface="Aptos"/>
              </a:rPr>
              <a:t>tus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B2B26"/>
                </a:solidFill>
                <a:latin typeface="Aptos"/>
              </a:rPr>
              <a:t>retos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750641"/>
            <a:ext cx="64922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600" b="1" dirty="0">
                <a:solidFill>
                  <a:srgbClr val="B98C00"/>
                </a:solidFill>
                <a:latin typeface="Aptos"/>
              </a:rPr>
              <a:t>Ante todo, te </a:t>
            </a:r>
            <a:r>
              <a:rPr sz="1600" b="1" dirty="0" err="1">
                <a:solidFill>
                  <a:srgbClr val="B98C00"/>
                </a:solidFill>
                <a:latin typeface="Aptos"/>
              </a:rPr>
              <a:t>entendemo</a:t>
            </a:r>
            <a:r>
              <a:rPr lang="es-ES" sz="1600" b="1" dirty="0">
                <a:solidFill>
                  <a:srgbClr val="B98C00"/>
                </a:solidFill>
                <a:latin typeface="Aptos"/>
              </a:rPr>
              <a:t>s</a:t>
            </a:r>
            <a:r>
              <a:rPr sz="1600" b="1" dirty="0">
                <a:solidFill>
                  <a:srgbClr val="B98C0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9181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CÓMO FUNCIONA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509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2. IA en acción.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706624"/>
            <a:ext cx="2542032" cy="128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271" y="2962656"/>
            <a:ext cx="25054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 err="1">
                <a:solidFill>
                  <a:srgbClr val="2B2B26"/>
                </a:solidFill>
                <a:latin typeface="Aptos"/>
              </a:rPr>
              <a:t>Retos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B2B26"/>
                </a:solidFill>
                <a:latin typeface="Aptos"/>
              </a:rPr>
              <a:t>personalizados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706624"/>
            <a:ext cx="2542032" cy="1280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28032" y="2962656"/>
            <a:ext cx="25054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2B2B26"/>
                </a:solidFill>
                <a:latin typeface="Aptos"/>
              </a:rPr>
              <a:t>Generación </a:t>
            </a:r>
            <a:r>
              <a:rPr sz="1800" b="1" dirty="0" err="1">
                <a:solidFill>
                  <a:srgbClr val="2B2B26"/>
                </a:solidFill>
                <a:latin typeface="Aptos"/>
              </a:rPr>
              <a:t>dinámica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706624"/>
            <a:ext cx="2542032" cy="1280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2752" y="3005697"/>
            <a:ext cx="250545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800" b="1" dirty="0">
                <a:solidFill>
                  <a:srgbClr val="2B2B26"/>
                </a:solidFill>
                <a:latin typeface="Aptos"/>
              </a:rPr>
              <a:t>Eres dueño de tu tiempo.</a:t>
            </a:r>
            <a:endParaRPr sz="1800" b="1" dirty="0">
              <a:solidFill>
                <a:srgbClr val="2B2B2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34640" y="4750641"/>
            <a:ext cx="64922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600" b="1" dirty="0">
                <a:solidFill>
                  <a:srgbClr val="B98C00"/>
                </a:solidFill>
                <a:latin typeface="Aptos"/>
              </a:rPr>
              <a:t>C</a:t>
            </a:r>
            <a:r>
              <a:rPr sz="1600" b="1" dirty="0" err="1">
                <a:solidFill>
                  <a:srgbClr val="B98C00"/>
                </a:solidFill>
                <a:latin typeface="Aptos"/>
              </a:rPr>
              <a:t>onvertimos</a:t>
            </a:r>
            <a:r>
              <a:rPr sz="1600" b="1" dirty="0">
                <a:solidFill>
                  <a:srgbClr val="B98C00"/>
                </a:solidFill>
                <a:latin typeface="Aptos"/>
              </a:rPr>
              <a:t> </a:t>
            </a:r>
            <a:r>
              <a:rPr lang="es-ES" sz="1600" b="1" dirty="0">
                <a:solidFill>
                  <a:srgbClr val="B98C00"/>
                </a:solidFill>
                <a:latin typeface="Aptos"/>
              </a:rPr>
              <a:t>el </a:t>
            </a:r>
            <a:r>
              <a:rPr sz="1600" b="1" dirty="0" err="1">
                <a:solidFill>
                  <a:srgbClr val="B98C00"/>
                </a:solidFill>
                <a:latin typeface="Aptos"/>
              </a:rPr>
              <a:t>contexto</a:t>
            </a:r>
            <a:r>
              <a:rPr sz="1600" b="1" dirty="0">
                <a:solidFill>
                  <a:srgbClr val="B98C00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B98C00"/>
                </a:solidFill>
                <a:latin typeface="Aptos"/>
              </a:rPr>
              <a:t>en</a:t>
            </a:r>
            <a:r>
              <a:rPr sz="1600" b="1" dirty="0">
                <a:solidFill>
                  <a:srgbClr val="B98C00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B98C00"/>
                </a:solidFill>
                <a:latin typeface="Aptos"/>
              </a:rPr>
              <a:t>acción</a:t>
            </a:r>
            <a:r>
              <a:rPr sz="1600" b="1" dirty="0">
                <a:solidFill>
                  <a:srgbClr val="B98C0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8791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CÓMO FUNCIONA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509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3. Comunidad integrada.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706624"/>
            <a:ext cx="2542032" cy="128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3005697"/>
            <a:ext cx="250545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dirty="0">
                <a:solidFill>
                  <a:srgbClr val="2B2B26"/>
                </a:solidFill>
                <a:latin typeface="Aptos"/>
              </a:rPr>
              <a:t>Amigos y </a:t>
            </a:r>
            <a:r>
              <a:rPr sz="1800" b="1" dirty="0" err="1">
                <a:solidFill>
                  <a:srgbClr val="2B2B26"/>
                </a:solidFill>
                <a:latin typeface="Aptos"/>
              </a:rPr>
              <a:t>retos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B2B26"/>
                </a:solidFill>
                <a:latin typeface="Aptos"/>
              </a:rPr>
              <a:t>compartidos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706624"/>
            <a:ext cx="2542032" cy="1280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8649" y="2962656"/>
            <a:ext cx="25054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 err="1">
                <a:solidFill>
                  <a:srgbClr val="2B2B26"/>
                </a:solidFill>
                <a:latin typeface="Aptos"/>
              </a:rPr>
              <a:t>Invitaciones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 y </a:t>
            </a:r>
            <a:r>
              <a:rPr sz="1800" b="1" dirty="0" err="1">
                <a:solidFill>
                  <a:srgbClr val="2B2B26"/>
                </a:solidFill>
                <a:latin typeface="Aptos"/>
              </a:rPr>
              <a:t>progreso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578608"/>
            <a:ext cx="3127248" cy="141732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706624"/>
            <a:ext cx="2542032" cy="1280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9016" y="2962656"/>
            <a:ext cx="25054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 err="1">
                <a:solidFill>
                  <a:srgbClr val="2B2B26"/>
                </a:solidFill>
                <a:latin typeface="Aptos"/>
              </a:rPr>
              <a:t>Acompañamiento</a:t>
            </a:r>
            <a:r>
              <a:rPr sz="1800" b="1" dirty="0">
                <a:solidFill>
                  <a:srgbClr val="2B2B26"/>
                </a:solidFill>
                <a:latin typeface="Aptos"/>
              </a:rPr>
              <a:t>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681728"/>
            <a:ext cx="6492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B98C00"/>
                </a:solidFill>
                <a:latin typeface="Aptos"/>
              </a:rPr>
              <a:t>Y finalmente lo compartimos.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729" y="92803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DIFERENCIACIÓN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El mercado actual.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87168"/>
            <a:ext cx="5074920" cy="2395728"/>
          </a:xfrm>
          <a:prstGeom prst="roundRect">
            <a:avLst/>
          </a:prstGeom>
          <a:solidFill>
            <a:srgbClr val="F8F6EF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7432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706C5E"/>
                </a:solidFill>
                <a:latin typeface="Aptos"/>
              </a:rPr>
              <a:t>COMPETENCIA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63824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 err="1">
                <a:solidFill>
                  <a:srgbClr val="2B2B26"/>
                </a:solidFill>
                <a:latin typeface="Aptos"/>
              </a:rPr>
              <a:t>Habitica</a:t>
            </a:r>
            <a:endParaRPr sz="1900" b="1" dirty="0">
              <a:solidFill>
                <a:srgbClr val="2B2B2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" y="3493008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706C5E"/>
                </a:solidFill>
                <a:latin typeface="Aptos"/>
              </a:rPr>
              <a:t>Gamificación · enfoque genérico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93192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B2B26"/>
                </a:solidFill>
                <a:latin typeface="Aptos"/>
              </a:rPr>
              <a:t>Fabulous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706C5E"/>
                </a:solidFill>
                <a:latin typeface="Aptos"/>
              </a:rPr>
              <a:t>Coaching · uso individual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2487168"/>
            <a:ext cx="5074920" cy="2395728"/>
          </a:xfrm>
          <a:prstGeom prst="roundRect">
            <a:avLst/>
          </a:prstGeom>
          <a:solidFill>
            <a:srgbClr val="FFFEFA"/>
          </a:solidFill>
          <a:ln>
            <a:solidFill>
              <a:srgbClr val="F5C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B98C00"/>
                </a:solidFill>
                <a:latin typeface="Aptos"/>
              </a:rPr>
              <a:t>HOYLO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182222"/>
            <a:ext cx="420624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 err="1">
                <a:solidFill>
                  <a:srgbClr val="2B2B26"/>
                </a:solidFill>
                <a:latin typeface="Aptos"/>
              </a:rPr>
              <a:t>Contexto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</a:t>
            </a:r>
            <a:r>
              <a:rPr lang="es-ES" sz="1900" b="1" dirty="0">
                <a:solidFill>
                  <a:srgbClr val="2B2B26"/>
                </a:solidFill>
                <a:latin typeface="Aptos"/>
              </a:rPr>
              <a:t>Real</a:t>
            </a:r>
            <a:endParaRPr sz="1900" b="1" dirty="0">
              <a:solidFill>
                <a:srgbClr val="2B2B2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66560" y="3493008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706C5E"/>
                </a:solidFill>
                <a:latin typeface="Aptos"/>
              </a:rPr>
              <a:t>Retos adaptados al arco vital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3192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B2B26"/>
                </a:solidFill>
                <a:latin typeface="Aptos"/>
              </a:rPr>
              <a:t>Comunidad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26110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706C5E"/>
                </a:solidFill>
                <a:latin typeface="Aptos"/>
              </a:rPr>
              <a:t>Amigos · retos compartidos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709" y="885823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TECNOLOGÍA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6012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B2B26"/>
                </a:solidFill>
                <a:latin typeface="Aptos Display"/>
              </a:rPr>
              <a:t>Frontend: experiencia fluida.</a:t>
            </a:r>
          </a:p>
        </p:txBody>
      </p:sp>
      <p:pic>
        <p:nvPicPr>
          <p:cNvPr id="7" name="Picture 6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87168"/>
            <a:ext cx="475488" cy="475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2577683"/>
            <a:ext cx="77724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900" b="1" dirty="0" err="1">
                <a:solidFill>
                  <a:srgbClr val="2B2B26"/>
                </a:solidFill>
                <a:latin typeface="Aptos"/>
              </a:rPr>
              <a:t>React</a:t>
            </a:r>
            <a:r>
              <a:rPr lang="es-ES" sz="1900" b="1" dirty="0">
                <a:solidFill>
                  <a:srgbClr val="2B2B26"/>
                </a:solidFill>
                <a:latin typeface="Aptos"/>
              </a:rPr>
              <a:t> ·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</a:t>
            </a:r>
            <a:r>
              <a:rPr lang="es-ES" sz="1900" b="1" dirty="0">
                <a:solidFill>
                  <a:srgbClr val="2B2B26"/>
                </a:solidFill>
                <a:latin typeface="Aptos"/>
              </a:rPr>
              <a:t>Formato 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responsive</a:t>
            </a:r>
          </a:p>
        </p:txBody>
      </p:sp>
      <p:pic>
        <p:nvPicPr>
          <p:cNvPr id="9" name="Picture 8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36976"/>
            <a:ext cx="475488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3327491"/>
            <a:ext cx="77724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900" b="1" dirty="0">
                <a:solidFill>
                  <a:srgbClr val="2B2B26"/>
                </a:solidFill>
                <a:latin typeface="Aptos"/>
              </a:rPr>
              <a:t>I18n · Español/Inglés.</a:t>
            </a:r>
          </a:p>
        </p:txBody>
      </p:sp>
      <p:pic>
        <p:nvPicPr>
          <p:cNvPr id="11" name="Picture 10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86784"/>
            <a:ext cx="475488" cy="4754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8448" y="3968496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>
                <a:solidFill>
                  <a:srgbClr val="2B2B26"/>
                </a:solidFill>
                <a:latin typeface="Aptos"/>
              </a:rPr>
              <a:t>UX simple y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accesible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423160"/>
            <a:ext cx="2331720" cy="242316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975B409-D2AD-CB1E-6A3A-A25821FD7E5D}"/>
              </a:ext>
            </a:extLst>
          </p:cNvPr>
          <p:cNvSpPr txBox="1"/>
          <p:nvPr/>
        </p:nvSpPr>
        <p:spPr>
          <a:xfrm>
            <a:off x="8867221" y="2886701"/>
            <a:ext cx="224519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rgbClr val="2B2B26"/>
                </a:solidFill>
                <a:latin typeface="Aptos"/>
              </a:rPr>
              <a:t>BONUS:</a:t>
            </a:r>
          </a:p>
          <a:p>
            <a:pPr algn="ctr"/>
            <a:endParaRPr lang="es-ES" b="1" dirty="0">
              <a:solidFill>
                <a:srgbClr val="2B2B26"/>
              </a:solidFill>
              <a:latin typeface="Aptos"/>
            </a:endParaRPr>
          </a:p>
          <a:p>
            <a:pPr algn="ctr"/>
            <a:r>
              <a:rPr lang="es-ES" sz="1800" b="1" dirty="0">
                <a:solidFill>
                  <a:srgbClr val="2B2B26"/>
                </a:solidFill>
                <a:latin typeface="Aptos"/>
              </a:rPr>
              <a:t>Modo oscuro integrado.</a:t>
            </a:r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905" y="900684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TECNOLOGÍA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6012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B2B26"/>
                </a:solidFill>
                <a:latin typeface="Aptos Display"/>
              </a:rPr>
              <a:t>Backend: escalabilidad.</a:t>
            </a:r>
          </a:p>
        </p:txBody>
      </p:sp>
      <p:pic>
        <p:nvPicPr>
          <p:cNvPr id="7" name="Picture 6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87168"/>
            <a:ext cx="493776" cy="493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2587862"/>
            <a:ext cx="2678329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 err="1">
                <a:solidFill>
                  <a:srgbClr val="2B2B26"/>
                </a:solidFill>
                <a:latin typeface="Aptos"/>
              </a:rPr>
              <a:t>Funciones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Serverless.</a:t>
            </a:r>
          </a:p>
        </p:txBody>
      </p:sp>
      <p:pic>
        <p:nvPicPr>
          <p:cNvPr id="9" name="Picture 8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36976"/>
            <a:ext cx="493776" cy="493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3332667"/>
            <a:ext cx="3023386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 err="1">
                <a:solidFill>
                  <a:srgbClr val="2B2B26"/>
                </a:solidFill>
                <a:latin typeface="Aptos"/>
              </a:rPr>
              <a:t>Supabase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: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datos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+ Auth.</a:t>
            </a:r>
          </a:p>
        </p:txBody>
      </p:sp>
      <p:pic>
        <p:nvPicPr>
          <p:cNvPr id="11" name="Picture 10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86784"/>
            <a:ext cx="493776" cy="493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8448" y="4077472"/>
            <a:ext cx="6404941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>
                <a:solidFill>
                  <a:srgbClr val="2B2B26"/>
                </a:solidFill>
                <a:latin typeface="Aptos"/>
              </a:rPr>
              <a:t>IA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conectada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al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producto</a:t>
            </a:r>
            <a:r>
              <a:rPr lang="es-ES" sz="1900" b="1" dirty="0">
                <a:solidFill>
                  <a:srgbClr val="2B2B26"/>
                </a:solidFill>
                <a:latin typeface="Aptos"/>
              </a:rPr>
              <a:t>, pero INDEPENDIENTE de ella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3542670A-4236-CE71-3FE5-5D9A3511DF51}"/>
              </a:ext>
            </a:extLst>
          </p:cNvPr>
          <p:cNvSpPr txBox="1"/>
          <p:nvPr/>
        </p:nvSpPr>
        <p:spPr>
          <a:xfrm>
            <a:off x="1674560" y="4525899"/>
            <a:ext cx="5391682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lang="es-ES" sz="1500" b="1" dirty="0">
                <a:solidFill>
                  <a:srgbClr val="2B2B26"/>
                </a:solidFill>
                <a:latin typeface="Aptos"/>
              </a:rPr>
              <a:t>Bonus: Generación de productos mediante algoritmo clásico.</a:t>
            </a:r>
            <a:endParaRPr sz="1500" b="1" dirty="0">
              <a:solidFill>
                <a:srgbClr val="2B2B26"/>
              </a:solidFill>
              <a:latin typeface="Aptos"/>
            </a:endParaRPr>
          </a:p>
        </p:txBody>
      </p:sp>
      <p:pic>
        <p:nvPicPr>
          <p:cNvPr id="19" name="Picture 10" descr="hoylo_crayon_circle.png">
            <a:extLst>
              <a:ext uri="{FF2B5EF4-FFF2-40B4-BE49-F238E27FC236}">
                <a16:creationId xmlns:a16="http://schemas.microsoft.com/office/drawing/2014/main" id="{29C9DF20-1248-F4C9-ECA5-56DFCBC1D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683" y="4481295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4135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TECNOLOGÍA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6012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B2B26"/>
                </a:solidFill>
                <a:latin typeface="Aptos Display"/>
              </a:rPr>
              <a:t>Recursos multimedia.</a:t>
            </a:r>
          </a:p>
        </p:txBody>
      </p:sp>
      <p:pic>
        <p:nvPicPr>
          <p:cNvPr id="7" name="Picture 6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87168"/>
            <a:ext cx="475488" cy="475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2562673"/>
            <a:ext cx="77724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 err="1">
                <a:solidFill>
                  <a:srgbClr val="2B2B26"/>
                </a:solidFill>
                <a:latin typeface="Aptos"/>
              </a:rPr>
              <a:t>Cloudinary</a:t>
            </a:r>
            <a:r>
              <a:rPr lang="es-ES" sz="1900" b="1" dirty="0">
                <a:solidFill>
                  <a:srgbClr val="2B2B26"/>
                </a:solidFill>
                <a:latin typeface="Aptos"/>
              </a:rPr>
              <a:t> encargada del procesamiento y el guardado de imágenes.</a:t>
            </a:r>
            <a:endParaRPr sz="1900" b="1" dirty="0">
              <a:solidFill>
                <a:srgbClr val="2B2B26"/>
              </a:solidFill>
              <a:latin typeface="Aptos"/>
            </a:endParaRPr>
          </a:p>
        </p:txBody>
      </p:sp>
      <p:pic>
        <p:nvPicPr>
          <p:cNvPr id="9" name="Picture 8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4732" y="3219723"/>
            <a:ext cx="475488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51660" y="3210579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 err="1">
                <a:solidFill>
                  <a:srgbClr val="2B2B26"/>
                </a:solidFill>
                <a:latin typeface="Aptos"/>
              </a:rPr>
              <a:t>Imágenes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de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perfil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y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retos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pic>
        <p:nvPicPr>
          <p:cNvPr id="11" name="Picture 10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4732" y="3969531"/>
            <a:ext cx="475488" cy="4754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51660" y="3960387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 err="1">
                <a:solidFill>
                  <a:srgbClr val="2B2B26"/>
                </a:solidFill>
                <a:latin typeface="Aptos"/>
              </a:rPr>
              <a:t>Menos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carga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en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el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2B2B26"/>
                </a:solidFill>
                <a:latin typeface="Aptos"/>
              </a:rPr>
              <a:t>servidor</a:t>
            </a:r>
            <a:r>
              <a:rPr sz="19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01633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PLANIFICACIÓN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Roadmap: 6 meses.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8992" y="3310128"/>
            <a:ext cx="9893808" cy="0"/>
          </a:xfrm>
          <a:prstGeom prst="line">
            <a:avLst/>
          </a:prstGeom>
          <a:ln w="38100">
            <a:solidFill>
              <a:srgbClr val="DCD6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8952" y="2633472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B2B26"/>
                </a:solidFill>
                <a:latin typeface="Aptos"/>
              </a:rPr>
              <a:t>ANÁLISIS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22191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706C5E"/>
                </a:solidFill>
                <a:latin typeface="Aptos"/>
              </a:rPr>
              <a:t>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633472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B2B26"/>
                </a:solidFill>
                <a:latin typeface="Aptos"/>
              </a:rPr>
              <a:t>DISEÑO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3822191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706C5E"/>
                </a:solidFill>
                <a:latin typeface="Aptos"/>
              </a:rPr>
              <a:t>4–6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2633472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B2B26"/>
                </a:solidFill>
                <a:latin typeface="Aptos"/>
              </a:rPr>
              <a:t>DESARROLLO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3822191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706C5E"/>
                </a:solidFill>
                <a:latin typeface="Aptos"/>
              </a:rPr>
              <a:t>7–18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633472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B2B26"/>
                </a:solidFill>
                <a:latin typeface="Aptos"/>
              </a:rPr>
              <a:t>PRUEBAS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822191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706C5E"/>
                </a:solidFill>
                <a:latin typeface="Aptos"/>
              </a:rPr>
              <a:t>19–22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7272" y="2633472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B2B26"/>
                </a:solidFill>
                <a:latin typeface="Aptos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3822191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706C5E"/>
                </a:solidFill>
                <a:latin typeface="Aptos"/>
              </a:rPr>
              <a:t>23–24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736592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dirty="0">
                <a:solidFill>
                  <a:srgbClr val="B98C00"/>
                </a:solidFill>
                <a:latin typeface="Aptos"/>
              </a:rPr>
              <a:t>6 meses · </a:t>
            </a:r>
            <a:r>
              <a:rPr sz="1800" b="1" dirty="0" err="1">
                <a:solidFill>
                  <a:srgbClr val="B98C00"/>
                </a:solidFill>
                <a:latin typeface="Aptos"/>
              </a:rPr>
              <a:t>cinco</a:t>
            </a:r>
            <a:r>
              <a:rPr sz="1800" b="1" dirty="0">
                <a:solidFill>
                  <a:srgbClr val="B98C00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B98C00"/>
                </a:solidFill>
                <a:latin typeface="Aptos"/>
              </a:rPr>
              <a:t>etapas</a:t>
            </a:r>
            <a:endParaRPr sz="1800" b="1" dirty="0">
              <a:solidFill>
                <a:srgbClr val="B98C00"/>
              </a:solidFill>
              <a:latin typeface="Apto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A22E5C6-0CF5-4096-7818-54ACCAC34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18" y="2996471"/>
            <a:ext cx="901523" cy="62110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157A99B-2FA3-DD50-08A7-ACCBA87ED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438" y="2996471"/>
            <a:ext cx="901523" cy="62110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1308262-0103-4148-7849-74DEF6C45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758" y="2996471"/>
            <a:ext cx="901523" cy="62110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03F6602-7724-1C78-7255-1A5E344E1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078" y="2999577"/>
            <a:ext cx="901523" cy="621102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EF58CB3-712C-3B70-4B42-D3E607360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3438" y="2996471"/>
            <a:ext cx="901523" cy="6211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8103" y="896112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VIABILIDAD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8961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Proyección.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487168"/>
            <a:ext cx="5074920" cy="2240280"/>
          </a:xfrm>
          <a:prstGeom prst="roundRect">
            <a:avLst/>
          </a:prstGeom>
          <a:solidFill>
            <a:srgbClr val="FFFEFA"/>
          </a:solidFill>
          <a:ln>
            <a:solidFill>
              <a:srgbClr val="E2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770632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706C5E"/>
                </a:solidFill>
                <a:latin typeface="Aptos"/>
              </a:rPr>
              <a:t>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82112"/>
            <a:ext cx="4251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2B2B26"/>
                </a:solidFill>
                <a:latin typeface="Aptos"/>
              </a:rPr>
              <a:t>Salud y Bienestar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0390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706C5E"/>
                </a:solidFill>
                <a:latin typeface="Aptos"/>
              </a:rPr>
              <a:t>Retos · autocuidado · hábitos</a:t>
            </a:r>
          </a:p>
        </p:txBody>
      </p:sp>
      <p:pic>
        <p:nvPicPr>
          <p:cNvPr id="15" name="Picture 14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4736592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ylo_logo_sin_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7744"/>
            <a:ext cx="1298448" cy="58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982" y="885933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dirty="0">
                <a:solidFill>
                  <a:srgbClr val="B98C00"/>
                </a:solidFill>
                <a:latin typeface="Aptos Display"/>
              </a:rPr>
              <a:t>EN UNA FRASE</a:t>
            </a:r>
          </a:p>
        </p:txBody>
      </p:sp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3246120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2B2B26"/>
                </a:solidFill>
                <a:latin typeface="Aptos Display"/>
              </a:rPr>
              <a:t>¿Por qué Hoylo?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7924" y="3630169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2B2B26"/>
                </a:solidFill>
                <a:latin typeface="Aptos"/>
              </a:rPr>
              <a:t>Contextual.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9804" y="3630169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2B2B26"/>
                </a:solidFill>
                <a:latin typeface="Aptos"/>
              </a:rPr>
              <a:t>Social.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6188" y="3630169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 err="1">
                <a:solidFill>
                  <a:srgbClr val="2B2B26"/>
                </a:solidFill>
                <a:latin typeface="Aptos"/>
              </a:rPr>
              <a:t>Tecnológico</a:t>
            </a:r>
            <a:r>
              <a:rPr sz="16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pic>
        <p:nvPicPr>
          <p:cNvPr id="13" name="Picture 12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330634"/>
            <a:ext cx="9570720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42032" y="4872737"/>
            <a:ext cx="711403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dirty="0">
                <a:solidFill>
                  <a:srgbClr val="B98C00"/>
                </a:solidFill>
                <a:latin typeface="Aptos"/>
              </a:rPr>
              <a:t>Tu </a:t>
            </a:r>
            <a:r>
              <a:rPr sz="1900" b="1" dirty="0" err="1">
                <a:solidFill>
                  <a:srgbClr val="B98C00"/>
                </a:solidFill>
                <a:latin typeface="Aptos"/>
              </a:rPr>
              <a:t>vida</a:t>
            </a:r>
            <a:r>
              <a:rPr sz="1900" b="1" dirty="0">
                <a:solidFill>
                  <a:srgbClr val="B98C00"/>
                </a:solidFill>
                <a:latin typeface="Aptos"/>
              </a:rPr>
              <a:t> cambia. Tus </a:t>
            </a:r>
            <a:r>
              <a:rPr sz="1900" b="1" dirty="0" err="1">
                <a:solidFill>
                  <a:srgbClr val="B98C00"/>
                </a:solidFill>
                <a:latin typeface="Aptos"/>
              </a:rPr>
              <a:t>hábitos</a:t>
            </a:r>
            <a:r>
              <a:rPr sz="1900" b="1" dirty="0">
                <a:solidFill>
                  <a:srgbClr val="B98C00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B98C00"/>
                </a:solidFill>
                <a:latin typeface="Aptos"/>
              </a:rPr>
              <a:t>también</a:t>
            </a:r>
            <a:r>
              <a:rPr sz="1900" b="1" dirty="0">
                <a:solidFill>
                  <a:srgbClr val="B98C00"/>
                </a:solidFill>
                <a:latin typeface="Aptos"/>
              </a:rPr>
              <a:t>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47DA76A-C6DE-D452-65D8-D00F82437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676" y="2787022"/>
            <a:ext cx="1169255" cy="80555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7924F5A-96E3-F94A-1A2E-FE265E2A5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9556" y="2790110"/>
            <a:ext cx="1169255" cy="80555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A896283-0BEC-A5CB-7B19-852312154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36" y="2787021"/>
            <a:ext cx="1169255" cy="805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3200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706C5E"/>
                </a:solidFill>
                <a:latin typeface="Aptos"/>
              </a:rPr>
              <a:t>15</a:t>
            </a:r>
          </a:p>
        </p:txBody>
      </p:sp>
      <p:pic>
        <p:nvPicPr>
          <p:cNvPr id="4" name="Picture 3" descr="Hoy lo hago con s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566928"/>
            <a:ext cx="8321040" cy="5547360"/>
          </a:xfrm>
          <a:prstGeom prst="rect">
            <a:avLst/>
          </a:prstGeom>
        </p:spPr>
      </p:pic>
      <p:pic>
        <p:nvPicPr>
          <p:cNvPr id="5" name="Picture 4" descr="hoylo_crayon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6" y="5230368"/>
            <a:ext cx="6080760" cy="246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22191" y="55778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2500" b="1" dirty="0">
                <a:solidFill>
                  <a:srgbClr val="2B2B26"/>
                </a:solidFill>
                <a:latin typeface="Aptos"/>
              </a:rPr>
              <a:t>Nos adaptamos </a:t>
            </a:r>
            <a:r>
              <a:rPr sz="2500" b="1" dirty="0">
                <a:solidFill>
                  <a:srgbClr val="2B2B26"/>
                </a:solidFill>
                <a:latin typeface="Aptos"/>
              </a:rPr>
              <a:t>a </a:t>
            </a:r>
            <a:r>
              <a:rPr sz="2500" b="1" dirty="0" err="1">
                <a:solidFill>
                  <a:srgbClr val="2B2B26"/>
                </a:solidFill>
                <a:latin typeface="Aptos"/>
              </a:rPr>
              <a:t>ti</a:t>
            </a:r>
            <a:r>
              <a:rPr sz="2500" b="1" dirty="0">
                <a:solidFill>
                  <a:srgbClr val="2B2B26"/>
                </a:solidFill>
                <a:latin typeface="Aptos"/>
              </a:rPr>
              <a:t>.</a:t>
            </a:r>
          </a:p>
        </p:txBody>
      </p:sp>
      <p:pic>
        <p:nvPicPr>
          <p:cNvPr id="7" name="Picture 6" descr="hoylo_crayon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513892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1015</Words>
  <Application>Microsoft Office PowerPoint</Application>
  <PresentationFormat>Panorámica</PresentationFormat>
  <Paragraphs>123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Hoylo — Elevator Pitch TFG · Crayon v2</dc:title>
  <dc:subject>Elevator Pitch de 2 minutos</dc:subject>
  <dc:creator>Mario Porras de los Santos</dc:creator>
  <cp:keywords>Hoylo, TFG, DAW, hábitos, bienestar, IA, comunidad, crayon</cp:keywords>
  <dc:description>generated using python-pptx</dc:description>
  <cp:lastModifiedBy>Mario Porras de los Santos</cp:lastModifiedBy>
  <cp:revision>2</cp:revision>
  <dcterms:created xsi:type="dcterms:W3CDTF">2013-01-27T09:14:16Z</dcterms:created>
  <dcterms:modified xsi:type="dcterms:W3CDTF">2026-10-03T12:50:46Z</dcterms:modified>
  <cp:category/>
</cp:coreProperties>
</file>